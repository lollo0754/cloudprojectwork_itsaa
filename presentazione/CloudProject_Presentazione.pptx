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280160"/>
            <a:ext cx="1097280" cy="10972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280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F3E"/>
                </a:solidFill>
              </a:rPr>
              <a:t>AWS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77440" y="1143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Cloud AWS Project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37744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9900"/>
                </a:solidFill>
              </a:rPr>
              <a:t>Portale web scalabile e sicuro su Amazon Web 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880360"/>
            <a:ext cx="5943600" cy="0"/>
          </a:xfrm>
          <a:prstGeom prst="line">
            <a:avLst/>
          </a:prstGeom>
          <a:noFill/>
          <a:ln w="6350">
            <a:solidFill>
              <a:srgbClr val="8B9C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CAD"/>
                </a:solidFill>
              </a:rPr>
              <a:t>Lorenzo De Nardi  ·  ITS/ITSAA  · 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Obiettivo del Progetto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0604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5943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Portale protetto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Interfaccia web accessibile da internet con sistema di autenticazione JWT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0604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206240" y="2057400"/>
            <a:ext cx="5943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Due servizi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Storia del Corso (timeline interattiva) e Gestione Emergenze (real-time)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0604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040880" y="2057400"/>
            <a:ext cx="5943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Focus AWS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Scalabilità, sicurezza e utilizzo di molteplici servizi Amazon Web Services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Architettura Cloud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828800" cy="1371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828800" cy="292608"/>
          </a:xfrm>
          <a:prstGeom prst="rect">
            <a:avLst/>
          </a:prstGeom>
          <a:solidFill>
            <a:srgbClr val="8B9CAD"/>
          </a:solidFill>
          <a:ln w="12700">
            <a:solidFill>
              <a:srgbClr val="8B9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Utenti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645920"/>
            <a:ext cx="32004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4813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828800" cy="1371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51560"/>
            <a:ext cx="182880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Load Balancer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645920"/>
            <a:ext cx="32004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4813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1828800" cy="1371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51560"/>
            <a:ext cx="182880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(ASG)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1-3 istanze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1645920"/>
            <a:ext cx="32004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4813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1051560"/>
            <a:ext cx="1828800" cy="1371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051560"/>
            <a:ext cx="182880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051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Le istanze EC2 leggono da: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4023360" cy="1463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063240"/>
            <a:ext cx="4023360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Secrets Manager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DATABASE_URL · SECRET_KEY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4023360" cy="1463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63240"/>
            <a:ext cx="4023360" cy="274320"/>
          </a:xfrm>
          <a:prstGeom prst="rect">
            <a:avLst/>
          </a:prstGeom>
          <a:solidFill>
            <a:srgbClr val="C47900"/>
          </a:solidFill>
          <a:ln w="12700">
            <a:solidFill>
              <a:srgbClr val="C47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Amazon S3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timeline.json (aggiornabile senza redeploy)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 Tecnologico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3749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9748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React 18 + Vite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093976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Bootstrap 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569464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Axios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44952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React Router DOM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Leaflet.js (mappe)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95928"/>
            <a:ext cx="109728" cy="10972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WebSocket client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697480" cy="3749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51560"/>
            <a:ext cx="2697480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1618488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Python FastAPI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2093976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SQLAlchemy ORM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2569464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psycopg2 (PostgreSQL)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044952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JWT (python-jose)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3520440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bcrypt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83280" y="3995928"/>
            <a:ext cx="109728" cy="1097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WebSocket server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0760" y="1051560"/>
            <a:ext cx="2697480" cy="3749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051560"/>
            <a:ext cx="2697480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Infrastruttura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1618488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Docker + Docker Compose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63640" y="2093976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AWS EC2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2569464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AWS RDS PostgreSQL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304495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AWS S3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63640" y="3520440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AWS Secrets Manager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63640" y="3995928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AWS ALB + ASG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Servizi AWS Utilizzati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EC2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399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Istanze virtuali che ospitano i container Docker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43200" cy="292608"/>
          </a:xfrm>
          <a:prstGeom prst="rect">
            <a:avLst/>
          </a:prstGeom>
          <a:solidFill>
            <a:srgbClr val="E47911"/>
          </a:solidFill>
          <a:ln w="12700">
            <a:solidFill>
              <a:srgbClr val="E479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App Load Balancer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10128" y="1399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Distribuisce il traffico tra le istanze, punto di accesso pubblico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43200" cy="292608"/>
          </a:xfrm>
          <a:prstGeom prst="rect">
            <a:avLst/>
          </a:prstGeom>
          <a:solidFill>
            <a:srgbClr val="C96A00"/>
          </a:solidFill>
          <a:ln w="12700">
            <a:solidFill>
              <a:srgbClr val="C9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 Scaling Group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13990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Scala da 1 a 3 istanze automaticamente se CPU &gt; 70%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274320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RDS PostgreSQL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336499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Database relazionale gestito, separato dall'applicazione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74320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Amazon S3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336499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Archivia timeline.json, aggiornabile dal browser AWS senza redeploy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743200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Secrets Manager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208" y="336499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Gestisce in modo sicuro DATABASE_URL e SECRET_KEY JWT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Sicurezza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Security Groups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5A"/>
                </a:solidFill>
              </a:rPr>
              <a:t>SG separati per ALB, EC2 e RDS — le EC2 non sono mai esposte direttamente a internet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93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AWS Secrets 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5A"/>
                </a:solidFill>
              </a:rPr>
              <a:t>DATABASE_URL e SECRET_KEY non sono mai su disco o in variabili visibili nel codice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54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Autenticazione JWT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5A"/>
                </a:solidFill>
              </a:rPr>
              <a:t>Ogni chiamata API richiede un token valido — scadenza 8 ore, firmato con chiave sicura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73152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14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Password hashing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068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5A"/>
                </a:solidFill>
              </a:rPr>
              <a:t>Le password degli utenti sono hashate con bcrypt prima di essere salvate nel database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Portale — Login e Homepage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749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3200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72768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Form username + password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48256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Invio come form-encoded (OAuth2)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2374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Risposta: JWT access token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99232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Token salvato in localStorage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7472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Interceptor Axios su tutte le API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05072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50208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Redirect automatico se token scaduto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4206240" cy="37490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Homepage (stile Google Classroom)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72768"/>
            <a:ext cx="1737360" cy="12801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572768"/>
            <a:ext cx="1737360" cy="2560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📅 Storia Corso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88366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5A"/>
                </a:solidFill>
              </a:rPr>
              <a:t>Timeline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5A"/>
                </a:solidFill>
              </a:rPr>
              <a:t>interattiva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1572768"/>
            <a:ext cx="1920240" cy="12801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9400" y="1572768"/>
            <a:ext cx="192024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🚨 Emergenze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188366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5A"/>
                </a:solidFill>
              </a:rPr>
              <a:t>Operatore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75A"/>
                </a:solidFill>
              </a:rPr>
              <a:t>+ Centrale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07238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Hover: elevazione + ombra card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57530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Tile Emergenze: 2 bottoni (Operatore / Centrale)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40782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023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Design responsive con Bootstrap 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Servizio 1 — Storia del Corso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1097280"/>
            <a:ext cx="54864" cy="37490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225296"/>
            <a:ext cx="365760" cy="36576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243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</a:rPr>
              <a:t>Ottobre 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1938528"/>
            <a:ext cx="365760" cy="36576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956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</a:rPr>
              <a:t>Dicembre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2651760"/>
            <a:ext cx="365760" cy="36576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670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</a:rPr>
              <a:t>Febbraio 2026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364992"/>
            <a:ext cx="365760" cy="36576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</a:rPr>
              <a:t>Aprile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4078224"/>
            <a:ext cx="365760" cy="365760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096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</a:rPr>
              <a:t>Maggio 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1051560"/>
            <a:ext cx="5120640" cy="37947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1051560"/>
            <a:ext cx="5120640" cy="3200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Come funziona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86200" y="15636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Un nodo per ogni mese del corso (Ottobre 2025 → Maggio 2026)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86200" y="2176272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121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Hover sul nodo: espande la card mostrando materie e tecnologie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86200" y="278892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734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Badge colorati: blu per le materie, verde per le tecnologie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886200" y="3401568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3467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Dati caricati da Amazon S3 — aggiornabili senza redeploy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86200" y="4014216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59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Nodo attivo: cambia colore (blu → rosso) e scala 1.3x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Servizio 2 — Gestione Emergenze · Vista Operatore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37947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393192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Vista mobile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636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Tipo emergenza (incidente, terremoto, incendio…)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Campo descrizione testuale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1460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Pulsante GPS: geolocalizzazione automatica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Mappa Leaflet cliccabile per posizionare il punto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044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Coordinate lat/lng modificabili manualmente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2336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Invio disabilitato se posizione non selezionata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4206240" cy="37947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51560"/>
            <a:ext cx="4206240" cy="3200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051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 della segnalazione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1097280" cy="34747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08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Aperta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1545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Appena inviata dall'operatore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109728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carico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Presa in carico dalla centrale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1097280" cy="34747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Annullata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Falso allarme o errore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1097280" cy="34747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Chiusa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Emergenza risolta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Servizio 2 — Gestione Emergenze · Centrale Operativa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3545"/>
                </a:solidFill>
              </a:rPr>
              <a:t>N°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AD"/>
                </a:solidFill>
              </a:rPr>
              <a:t>Aperte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6EFD"/>
                </a:solidFill>
              </a:rPr>
              <a:t>N°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AD"/>
                </a:solidFill>
              </a:rPr>
              <a:t>In carico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8754"/>
                </a:solidFill>
              </a:rPr>
              <a:t>N°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AD"/>
                </a:solidFill>
              </a:rPr>
              <a:t>Chiuse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F3E"/>
                </a:solidFill>
              </a:rPr>
              <a:t>Xm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AD"/>
                </a:solidFill>
              </a:rPr>
              <a:t>Durata media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4114800" cy="2331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68880"/>
            <a:ext cx="41148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 Mappa Leaflet (OpenStreetMap)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154680"/>
            <a:ext cx="201168" cy="201168"/>
          </a:xfrm>
          <a:prstGeom prst="ellipse">
            <a:avLst/>
          </a:prstGeom>
          <a:solidFill>
            <a:srgbClr val="DC3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= aperta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51760" y="3154680"/>
            <a:ext cx="201168" cy="201168"/>
          </a:xfrm>
          <a:prstGeom prst="ellipse">
            <a:avLst/>
          </a:prstGeom>
          <a:solidFill>
            <a:srgbClr val="0D6EF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154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5A"/>
                </a:solidFill>
              </a:rPr>
              <a:t>= in carico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Punti colorati aggiornati in tempo reale.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Click sul punto: popup con dettagli segnalazione.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4114800" cy="23317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468880"/>
            <a:ext cx="41148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Lista segnalazioni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9352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880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WebSocket: aggiornamento automatico senza refresh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3924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Bottoni Aperta / In carico / Annullata / Chiusa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8496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Stato attivo = bottone pieno, altri = outline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43068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4251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</a:rPr>
              <a:t>Cambio stato: aggiorna mappa e statistiche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Scalabilità — Test di Carico con Locust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94960" cy="256032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39496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Auto Scaling Group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6362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Min: 1 istanza  ·  Desired: 1  ·  Max: 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Trigger: CPU Utilization &gt; 70%  →  nuova istanza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14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AMI preconfigurata: pronta in ~3 min, zero intervento manuale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5A"/>
                </a:solidFill>
              </a:rPr>
              <a:t>Launch Template aggiornato con nuova AMI ad ogni rilascio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5394960" cy="109728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49040"/>
            <a:ext cx="5394960" cy="27432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49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Locust — test di carico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locust -f locustfile.py --host http://ALB-DNS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CAD"/>
                </a:solidFill>
              </a:rPr>
              <a:t>Task: GET segnalazioni, GET stats, GET timeline, POST nuova segnalazione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1051560"/>
            <a:ext cx="2834640" cy="3794760"/>
          </a:xfrm>
          <a:prstGeom prst="rect">
            <a:avLst/>
          </a:prstGeom>
          <a:solidFill>
            <a:srgbClr val="F5F6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1051560"/>
            <a:ext cx="2834640" cy="3200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228600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user-data.sh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8660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AD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286000"/>
            <a:ext cx="2286000" cy="5029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git pull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866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AD"/>
                </a:solidFill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3063240"/>
            <a:ext cx="2286000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 compose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-f prod up -d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--build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AD"/>
                </a:solidFill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840480"/>
            <a:ext cx="2286000" cy="50292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Istanza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pronta ✓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804672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Applicazione completamente containerizzata con Docker + Docker Compose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Deploy automatico via user-data.sh — zero configurazione manuale sulle nuove VM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414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Architettura a livelli separati: ALB → EC2 (ASG) → RDS, scalabile e resiliente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998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Timeline aggiornabile in tempo reale modificando il file su Amazon S3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58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Credenziali mai esposte grazie ad AWS Secrets Manager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4165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Sistema emergenze real-time con WebSocket, mappa interattiva e dashboard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CAD"/>
                </a:solidFill>
              </a:rPr>
              <a:t>Lorenzo De Nardi  ·  ITS/ITSAA  · 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AWS Project</dc:title>
  <dc:subject>PptxGenJS Presentation</dc:subject>
  <dc:creator>Lorenzo De Nardi</dc:creator>
  <cp:lastModifiedBy>Lorenzo De Nardi</cp:lastModifiedBy>
  <cp:revision>1</cp:revision>
  <dcterms:created xsi:type="dcterms:W3CDTF">2026-05-06T12:22:07Z</dcterms:created>
  <dcterms:modified xsi:type="dcterms:W3CDTF">2026-05-06T12:22:07Z</dcterms:modified>
</cp:coreProperties>
</file>